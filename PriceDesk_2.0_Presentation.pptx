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371600"/>
            <a:ext cx="11247120" cy="36576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71600"/>
            <a:ext cx="1124712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2194560" cy="347472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ENTERPRISE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05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 dirty="0" err="1">
                <a:solidFill>
                  <a:srgbClr val="FFFFFF"/>
                </a:solidFill>
              </a:rPr>
              <a:t>PriceDesk</a:t>
            </a:r>
            <a:r>
              <a:rPr sz="5200" b="1" i="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8D0FF"/>
                </a:solidFill>
              </a:rPr>
              <a:t>Aicera Systems — B2B Pricing, Approval &amp; Quoting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4572000" cy="36576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D8E8"/>
                </a:solidFill>
              </a:rPr>
              <a:t>Automating Quote Workflows · Protecting Profit Margins · Accelerating Sales Cycles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Aicera Systems Pvt.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6217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D0D8E8"/>
                </a:solidFill>
              </a:rPr>
              <a:t>Confidential —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Challenge &amp; 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5394960" cy="5212080"/>
          </a:xfrm>
          <a:prstGeom prst="rect">
            <a:avLst/>
          </a:prstGeom>
          <a:solidFill>
            <a:srgbClr val="2A1014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4F"/>
                </a:solidFill>
              </a:rPr>
              <a:t>🔴  Before PriceDesk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Pricing approvals via email chains — slow &amp; untracked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Manual spreadsheets prone to formula errors &amp; margin leakage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No visibility into deal status or revision history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Disconnected quoting, procurement &amp; delivery processes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No enforcement of minimum profit floor thresholds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FFAAAA"/>
                </a:solidFill>
              </a:rPr>
              <a:t>✕  Risk of unapproved deep-discount quotes reaching customers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5577840" cy="5212080"/>
          </a:xfrm>
          <a:prstGeom prst="rect">
            <a:avLst/>
          </a:prstGeom>
          <a:solidFill>
            <a:srgbClr val="0D2A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005840"/>
            <a:ext cx="5212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2C55E"/>
                </a:solidFill>
              </a:rPr>
              <a:t>🟢  With </a:t>
            </a:r>
            <a:r>
              <a:rPr sz="1500" b="1" i="0" dirty="0" err="1">
                <a:solidFill>
                  <a:srgbClr val="22C55E"/>
                </a:solidFill>
              </a:rPr>
              <a:t>PriceDesk</a:t>
            </a:r>
            <a:r>
              <a:rPr sz="1500" b="1" i="0" dirty="0">
                <a:solidFill>
                  <a:srgbClr val="22C55E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Automated 1-click approval routing through role queues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Real-time margin engine prevents erroneous deal submission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Live deal status tracking with full version snapshot history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Unified flow: Deal → Quote PDF → Purchase Order → Challan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Configurable global floor margin enforced at submission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6EFAC"/>
                </a:solidFill>
              </a:rPr>
              <a:t>✔  Role-based security ensures no unauthorized quote goes 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Role-Based Access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337560" cy="4572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👤 Sales 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Builds deals &amp; imports BOM CSV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Sets pricing &amp; discount levels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Monitors live margin %, flags &amp; thresholds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Submits deals for approval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Generates branded customer PDF quotes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914400"/>
            <a:ext cx="333756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0" y="10058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🔬 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4173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Reviews non-standard tech scope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Validates SLAs, warranties, specs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Confirms implementation timelines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Approves or requests changes on scope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914400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914400"/>
            <a:ext cx="333756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005840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💰 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417320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Audits cost &amp; transfer prices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Checks gross/net margin vs floor %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Validates GST (CGST/SGST/IGST)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Approves or rejects pricing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49039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749039"/>
            <a:ext cx="3337560" cy="45720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8404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📊 Sales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5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Executive approver for strategic deals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Sets &amp; tracks team quota targets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Reviews deep-discount escalations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Final authority before deal approval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749039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749039"/>
            <a:ext cx="33375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97680" y="38404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📦 Ops Executive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5195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Manages vendor Purchase Orders (PO)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Procurement &amp; supplier coordination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Generates &amp; tracks Delivery Challans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Monitors dispatch &amp; delivery 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3749039"/>
            <a:ext cx="3337560" cy="2606040"/>
          </a:xfrm>
          <a:prstGeom prst="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3749039"/>
            <a:ext cx="3337560" cy="4572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3840479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</a:rPr>
              <a:t>⚙️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251959"/>
            <a:ext cx="3063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Configures global margin thresholds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Manages user onboarding &amp; invites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Inspects full audit log trail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D0D8E8"/>
                </a:solidFill>
              </a:rPr>
              <a:t>• Customizes PDF/quote templates &amp; branding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End-to-End Deal Lifecycle &amp; Approval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1691640" cy="73152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39012" y="1024128"/>
            <a:ext cx="402336" cy="402336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9012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478DA"/>
                </a:solidFill>
              </a:rPr>
              <a:t>Deal
Creation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Sales Rep builds deal,
imports BOM CSV,
sets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1956816"/>
            <a:ext cx="128015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50592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50592" y="914400"/>
            <a:ext cx="1691640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95244" y="1024128"/>
            <a:ext cx="402336" cy="40233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5244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Margin
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Live gross/net margin
calculation, overhead
&amp; GST applied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1956816"/>
            <a:ext cx="128015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06824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6824" y="914400"/>
            <a:ext cx="1691640" cy="73152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51476" y="1024128"/>
            <a:ext cx="402336" cy="402336"/>
          </a:xfrm>
          <a:prstGeom prst="ellipse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51476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B00"/>
                </a:solidFill>
              </a:rPr>
              <a:t>Approval
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Auto-routed: Technical
→ Finance → Sales Head
based on 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16752" y="1956816"/>
            <a:ext cx="128015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63056" y="914400"/>
            <a:ext cx="169164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807708" y="1024128"/>
            <a:ext cx="402336" cy="40233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07708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2C55E"/>
                </a:solidFill>
              </a:rPr>
              <a:t>PDF
Quote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Branded customer quote
generated with GST,
bank &amp; company info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72984" y="1956816"/>
            <a:ext cx="128015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19288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19288" y="914400"/>
            <a:ext cx="169164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63940" y="1024128"/>
            <a:ext cx="402336" cy="40233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63940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Orders
&amp; POs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Convert to active order,
issue vendor POs &amp;
Delivery Challans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9216" y="1956816"/>
            <a:ext cx="128015" cy="10972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875520" y="914400"/>
            <a:ext cx="1691640" cy="2194560"/>
          </a:xfrm>
          <a:prstGeom prst="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875520" y="914400"/>
            <a:ext cx="1691640" cy="73152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0520172" y="1024128"/>
            <a:ext cx="402336" cy="40233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520172" y="1024128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1481328"/>
            <a:ext cx="1545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72B6"/>
                </a:solidFill>
              </a:rPr>
              <a:t>Incentive
&amp; KPIs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8672" y="2029967"/>
            <a:ext cx="1545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0D8E8"/>
                </a:solidFill>
              </a:rPr>
              <a:t>Commission payout
calculation &amp; quota
tracking dashboards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D8E8"/>
                </a:solidFill>
              </a:rPr>
              <a:t>Deal Status States: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3657600"/>
            <a:ext cx="1783080" cy="292608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draft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14600" y="3657600"/>
            <a:ext cx="1783080" cy="2926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560320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pending_technical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34840" y="3657600"/>
            <a:ext cx="178308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59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pending_finance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79" y="3657600"/>
            <a:ext cx="1783080" cy="29260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799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pending_sales_head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3657600"/>
            <a:ext cx="178308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21040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approved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95559" y="3657600"/>
            <a:ext cx="1783080" cy="292608"/>
          </a:xfrm>
          <a:prstGeom prst="rect">
            <a:avLst/>
          </a:prstGeom>
          <a:solidFill>
            <a:srgbClr val="FF4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41280" y="3675887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rejected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4069080"/>
            <a:ext cx="11247120" cy="777240"/>
          </a:xfrm>
          <a:prstGeom prst="rect">
            <a:avLst/>
          </a:prstGeom>
          <a:solidFill>
            <a:srgbClr val="2A1510"/>
          </a:solidFill>
          <a:ln w="12700">
            <a:solidFill>
              <a:srgbClr val="FF4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7240" y="413308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AAAA"/>
                </a:solidFill>
              </a:rPr>
              <a:t>↩  Changes Requested / Rejected:  Deal bounces back to Sales Rep with mandatory reviewer comments. Rep fixes and resubmits — a new version snapshot is automatically created.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Margin Intelligence &amp; Deal Builder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5394960" cy="1728216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539496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24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78DA"/>
                </a:solidFill>
              </a:rPr>
              <a:t>📥 BOM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1206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Upload Excel/CSV with hundreds of SKUs in one click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Auto-parses part numbers, brand, description, quantity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Maps non-standard columns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52344"/>
            <a:ext cx="5394960" cy="242316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752344"/>
            <a:ext cx="539496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62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78DA"/>
                </a:solidFill>
              </a:rPr>
              <a:t>🧮 Margin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55264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Transfer Price × Qty = Line Cost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Quoted Price × Qty = Line Revenue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Gross Margin % = (Revenue − Cost) / Revenue × 100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Net Margin % after deducting overheads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Floor margin alert if below admin threshold (e.g. 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285232"/>
            <a:ext cx="5394960" cy="1728216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5285232"/>
            <a:ext cx="539496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78DA"/>
                </a:solidFill>
              </a:rPr>
              <a:t>📊 Overheads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88152"/>
            <a:ext cx="512064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Fixed or % overhead costs layered on deal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Examples: shipping, installation, support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D0D8E8"/>
                </a:solidFill>
              </a:rPr>
              <a:t>• Auto-included in net margin calculation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914400"/>
            <a:ext cx="5577840" cy="521208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914400"/>
            <a:ext cx="557784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78DA"/>
                </a:solidFill>
              </a:rPr>
              <a:t>📐  Financial Formula Overview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08760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15453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Total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783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Σ (Transfer Price × Qty) + Overhead Costs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185415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2221991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Total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45973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Σ (Quoted Price × Qty) − Discount Amount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62072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8986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Gross Margin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13639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(Revenue − Cost) ÷ Revenue × 100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538728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5753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Net Margin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813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(Revenue − Cost − Overheads) ÷ Revenue ×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215384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2519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GST Applied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897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CGST % + SGST %  or  IGST %  on taxable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892040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92861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Floor Margin Alert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166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If Gross Margin % &lt; Admin Floor (e.g. 6%) → 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568696"/>
            <a:ext cx="5394960" cy="603504"/>
          </a:xfrm>
          <a:prstGeom prst="rect">
            <a:avLst/>
          </a:prstGeom>
          <a:solidFill>
            <a:srgbClr val="0D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46520" y="5605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D0FF"/>
                </a:solidFill>
              </a:rPr>
              <a:t>Deal Value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843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Total Revenue + Shipping Charge (inclusive of GST)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Approval Queues —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11247120" cy="178308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60120"/>
            <a:ext cx="1124712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033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🔬 Technical Queue
(Optional)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033272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Triggered when 'Requires Technical Review' is set on deal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Technical team reviews custom hardware specs, SLAs, warranties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Validates non-standard product configuration &amp; support scope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Reviews implementation timeline &amp; delivery feasibility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Can: Approve → moves to Finance   |   Request Changes → back to rep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80360"/>
            <a:ext cx="11247120" cy="178308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880360"/>
            <a:ext cx="112471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💰 Finance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953512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Reviews all line-item cost structures and transfer prices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Validates gross margin % against company floor threshold (e.g. 6%)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Checks tax structure: CGST/SGST for intra-state, IGST for inter-state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Evaluates payment terms, credit period &amp; validity of quoted prices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Can: Approve → moves to Sales Head   |   Reject with 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00600"/>
            <a:ext cx="11247120" cy="178308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4800600"/>
            <a:ext cx="11247120" cy="36576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8737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B00"/>
                </a:solidFill>
              </a:rPr>
              <a:t>📊 Sales Head 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873752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Final executive authority on strategic or high-value deals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Reviews deals with heavy discounts or strategic account implications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Sets &amp; monitors monthly/quarterly quota targets per rep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Escalation point for all rejected-then-resubmitted deals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D0D8E8"/>
                </a:solidFill>
              </a:rPr>
              <a:t>• Can: Final Approve → deal locked &amp; quote generated   |   Reject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D8E8"/>
                </a:solidFill>
              </a:rPr>
              <a:t>⚡ Audit Trail: Every approval, rejection, comment &amp; status change is logged with timestamp &amp; user identity for full governance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Document Generation &amp; Order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3657600" cy="521208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36576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478DA"/>
                </a:solidFill>
              </a:rPr>
              <a:t>📄 Customer Quote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Auto-generated on deal approval — no manual formatting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Includes: company logo, address, GSTIN, bank details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Itemized product table with HSN codes, UoM, GST breakdown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Dynamic sections: SLA, timeline, declaration, signatures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Admin can customize colors, fonts, visible columns &amp; footer notes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Version stamped — v1, v2, v3 for each pricing revision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3128" y="914400"/>
            <a:ext cx="3657600" cy="5212080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53128" y="91440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005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🛒 Purchase Order (PO)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5087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Generated by Finance/Ops after deal approval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Issued to suppliers/vendors for procurement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Contains: supplier name, item cost breakdown, payment terms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Customizable PO theme, header &amp; footer notes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Linked to the approved deal for traceability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11896" y="914400"/>
            <a:ext cx="3657600" cy="521208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11896" y="914400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005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🚚 Delivery Challan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50876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Issued by Ops when goods are dispatched to customer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Tracks item quantities shipped vs ordered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Contains dispatch date, transporter &amp; delivery address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Customizable challan branding for Aicera letterhead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D0D8E8"/>
                </a:solidFill>
              </a:rPr>
              <a:t>• Linked back to originating order &amp; deal for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Sales Targets, Incentives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5349240" cy="2514600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5349240" cy="36576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00"/>
                </a:solidFill>
              </a:rPr>
              <a:t>🎯 Quota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44752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Admin &amp; Sales Head set per-rep topline revenue targets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Linked to Financial Year (e.g. FY 2026-27)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Target vs achieved tracked in real-time dashboards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Region-wise target segmentation supported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914400"/>
            <a:ext cx="5349240" cy="2514600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914400"/>
            <a:ext cx="534924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00584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💸 Incentive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44752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Incentive % configurable by Admin (default: 5%)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Bottom-line % threshold defines commission eligibility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Incentive calculated on gross profit above floor margin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Per-rep commission view in Incentive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749039"/>
            <a:ext cx="5349240" cy="2514600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3749039"/>
            <a:ext cx="5349240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7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📈 Analytics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79392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Revenue pipeline by status (draft → approved)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Margin distribution across deals &amp; reps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Win rate analysis and approval cycle times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Recharts-powered interactive data visualizations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5349240" cy="25146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534924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3840479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78DA"/>
                </a:solidFill>
              </a:rPr>
              <a:t>📋 Admin Tools &amp;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279392"/>
            <a:ext cx="5074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Full audit log: every action timestamped with user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Settings: floor margin %, incentive %, financial year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Company branding: logo, GSTIN, bank details, address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D0D8E8"/>
                </a:solidFill>
              </a:rPr>
              <a:t>• User management: invite by role, activate/deactivate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Architecture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1097280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14400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914400"/>
            <a:ext cx="73152" cy="749808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9875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78DA"/>
                </a:solidFill>
              </a:rPr>
              <a:t>🖥️  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0241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React 19 · TypeScript · Vite · React Router v7 · Tailwind CSS v4 · Radix UI · Framer Motion · Lucide Icons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83080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783080"/>
            <a:ext cx="73152" cy="7498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8562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</a:rPr>
              <a:t>🗄️  State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92807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Redux Toolkit (global app state) · Zustand (auth/theme stores) · React Hook Form + Zod (form validation)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651760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651760"/>
            <a:ext cx="73152" cy="7498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24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</a:rPr>
              <a:t>🔒  Backend &amp;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6148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Supabase (PostgreSQL) · Row-Level Security (RLS) on all tables · Server-side API scripts for invites &amp; role assignment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20439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FF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520439"/>
            <a:ext cx="73152" cy="749808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59359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00"/>
                </a:solidFill>
              </a:rPr>
              <a:t>📄  Document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3016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@react-pdf/renderer — Customer Quotes, Vendor POs, Delivery Challans · EmailJS for 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389120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4389120"/>
            <a:ext cx="73152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📱  Mobile &amp; Offline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49884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Capacitor 8 — Native Android App · Progressive Web App (PWA) · Offline Indicator · Push Notifications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257800"/>
            <a:ext cx="11247120" cy="749808"/>
          </a:xfrm>
          <a:prstGeom prst="rect">
            <a:avLst/>
          </a:prstGeom>
          <a:solidFill>
            <a:srgbClr val="172A4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5257800"/>
            <a:ext cx="73152" cy="749808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330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B6"/>
                </a:solidFill>
              </a:rPr>
              <a:t>📊 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367528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0D8E8"/>
                </a:solidFill>
              </a:rPr>
              <a:t>Recharts — Revenue pipeline charts, margin distribution, deal status KPIs · @tanstack/react-table for data grids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263640"/>
            <a:ext cx="11247120" cy="411480"/>
          </a:xfrm>
          <a:prstGeom prst="rect">
            <a:avLst/>
          </a:prstGeom>
          <a:solidFill>
            <a:srgbClr val="0D2238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62910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🚀  Deployment:  Netlify (Web PWA) · Capacitor Build (Android APK) · Supabase Cloud Database (PostgreSQL)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188720"/>
            <a:ext cx="11247120" cy="4114800"/>
          </a:xfrm>
          <a:prstGeom prst="rect">
            <a:avLst/>
          </a:prstGeom>
          <a:solidFill>
            <a:srgbClr val="172A45"/>
          </a:solidFill>
          <a:ln w="12700">
            <a:solidFill>
              <a:srgbClr val="147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188720"/>
            <a:ext cx="11247120" cy="36576"/>
          </a:xfrm>
          <a:prstGeom prst="rect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478DA"/>
                </a:solidFill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01368"/>
            <a:ext cx="4572000" cy="27432"/>
          </a:xfrm>
          <a:prstGeom prst="rect">
            <a:avLst/>
          </a:prstGeom>
          <a:solidFill>
            <a:srgbClr val="FF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22960" y="1920240"/>
            <a:ext cx="384048" cy="384048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93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Faster Turnaround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5681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Automated routing eliminates email delays — quotes go out faster.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423160"/>
            <a:ext cx="384048" cy="384048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Margin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5973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Floor margin enforcement ensures no low-profit deal reaches customers.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926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293522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Full Lifecycle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626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Deal → Quote → PO → Challan → Commission in one unified platform.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3429000"/>
            <a:ext cx="384048" cy="384048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4290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4381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360°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46557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Leadership sees real-time pipeline, approval status &amp; team performance.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3931920"/>
            <a:ext cx="384048" cy="384048"/>
          </a:xfrm>
          <a:prstGeom prst="ellipse">
            <a:avLst/>
          </a:prstGeom>
          <a:solidFill>
            <a:srgbClr val="147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941063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Cross-Platform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96849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Works as Web app, PWA offline mode, and native Android application.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440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 err="1">
                <a:solidFill>
                  <a:srgbClr val="FFFFFF"/>
                </a:solidFill>
              </a:rPr>
              <a:t>PriceDesk</a:t>
            </a:r>
            <a:r>
              <a:rPr sz="3000" b="1" i="0">
                <a:solidFill>
                  <a:srgbClr val="FFFFFF"/>
                </a:solidFill>
              </a:rPr>
              <a:t> 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0D8E8"/>
                </a:solidFill>
              </a:rPr>
              <a:t>Built by the Engineering Team · Aicera Systems Pvt. Ltd.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5440680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000" b="1" i="0">
                <a:solidFill>
                  <a:srgbClr val="1478DA"/>
                </a:solidFill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989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D0D8E8"/>
                </a:solidFill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1478</Words>
  <Application>Microsoft Office PowerPoint</Application>
  <PresentationFormat>Custom</PresentationFormat>
  <Paragraphs>205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Jacquline</cp:lastModifiedBy>
  <cp:revision>2</cp:revision>
  <dcterms:created xsi:type="dcterms:W3CDTF">2013-01-27T09:14:16Z</dcterms:created>
  <dcterms:modified xsi:type="dcterms:W3CDTF">2026-08-01T06:22:17Z</dcterms:modified>
  <cp:category/>
</cp:coreProperties>
</file>